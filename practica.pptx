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640080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914400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1554480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5" name="Shape 3"/>
          <p:cNvSpPr/>
          <p:nvPr/>
        </p:nvSpPr>
        <p:spPr>
          <a:xfrm>
            <a:off x="11612880" y="1371600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0" y="1737360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2103120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9966960" y="1097280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9" name="Shape 7"/>
          <p:cNvSpPr/>
          <p:nvPr/>
        </p:nvSpPr>
        <p:spPr>
          <a:xfrm>
            <a:off x="10465308" y="681228"/>
            <a:ext cx="731520" cy="274320"/>
          </a:xfrm>
          <a:prstGeom prst="line">
            <a:avLst/>
          </a:prstGeom>
          <a:noFill/>
          <a:ln w="12700">
            <a:solidFill>
              <a:srgbClr val="4A3D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96828" y="955548"/>
            <a:ext cx="-274320" cy="640080"/>
          </a:xfrm>
          <a:prstGeom prst="line">
            <a:avLst/>
          </a:prstGeom>
          <a:noFill/>
          <a:ln w="12700">
            <a:solidFill>
              <a:srgbClr val="4A3D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96828" y="955548"/>
            <a:ext cx="457200" cy="457200"/>
          </a:xfrm>
          <a:prstGeom prst="line">
            <a:avLst/>
          </a:prstGeom>
          <a:noFill/>
          <a:ln w="12700">
            <a:solidFill>
              <a:srgbClr val="4A3D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65308" y="681228"/>
            <a:ext cx="-457200" cy="457200"/>
          </a:xfrm>
          <a:prstGeom prst="line">
            <a:avLst/>
          </a:prstGeom>
          <a:noFill/>
          <a:ln w="12700">
            <a:solidFill>
              <a:srgbClr val="4A3D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22508" y="1595628"/>
            <a:ext cx="-640080" cy="182880"/>
          </a:xfrm>
          <a:prstGeom prst="line">
            <a:avLst/>
          </a:prstGeom>
          <a:noFill/>
          <a:ln w="12700">
            <a:solidFill>
              <a:srgbClr val="4A3D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654028" y="1412748"/>
            <a:ext cx="-182880" cy="731520"/>
          </a:xfrm>
          <a:prstGeom prst="line">
            <a:avLst/>
          </a:prstGeom>
          <a:noFill/>
          <a:ln w="12700">
            <a:solidFill>
              <a:srgbClr val="4A3D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FORMACIÓN  ·  DEV-10X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182880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 propia OpenAI API privada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640080" y="3154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4 contenedores, en tu propio servidor con GPU.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40080" y="3749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E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embeddings · speech-to-text en una sola URL OpenAI-compatible — sin OpenAI, sin vendor lock-in, en tu infraestructura.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800600"/>
            <a:ext cx="665683" cy="420624"/>
          </a:xfrm>
          <a:prstGeom prst="roundRect">
            <a:avLst>
              <a:gd name="adj" fmla="val 50000"/>
            </a:avLst>
          </a:prstGeom>
          <a:solidFill>
            <a:srgbClr val="2E2552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800600"/>
            <a:ext cx="66568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488643" y="4800600"/>
            <a:ext cx="2432304" cy="420624"/>
          </a:xfrm>
          <a:prstGeom prst="roundRect">
            <a:avLst>
              <a:gd name="adj" fmla="val 50000"/>
            </a:avLst>
          </a:prstGeom>
          <a:solidFill>
            <a:srgbClr val="2E2552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88643" y="4800600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speaches / faster-whisper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03827" y="4800600"/>
            <a:ext cx="918058" cy="420624"/>
          </a:xfrm>
          <a:prstGeom prst="roundRect">
            <a:avLst>
              <a:gd name="adj" fmla="val 50000"/>
            </a:avLst>
          </a:prstGeom>
          <a:solidFill>
            <a:srgbClr val="2E2552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03827" y="4800600"/>
            <a:ext cx="918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04765" y="4800600"/>
            <a:ext cx="1506931" cy="420624"/>
          </a:xfrm>
          <a:prstGeom prst="roundRect">
            <a:avLst>
              <a:gd name="adj" fmla="val 50000"/>
            </a:avLst>
          </a:prstGeom>
          <a:solidFill>
            <a:srgbClr val="2E2552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04765" y="4800600"/>
            <a:ext cx="15069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LOS ACTORES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Cuatro piezas, una frase cada una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E4DBFA"/>
            </a:solidFill>
            <a:prstDash val="solid"/>
          </a:ln>
          <a:effectLst>
            <a:outerShdw sx="100000" sy="100000" kx="0" ky="0" algn="bl" rotWithShape="0" blurRad="101600" dist="38100" dir="5400000">
              <a:srgbClr val="9C8BC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658368" cy="658368"/>
          </a:xfrm>
          <a:prstGeom prst="roundRect">
            <a:avLst>
              <a:gd name="adj" fmla="val 9722"/>
            </a:avLst>
          </a:prstGeom>
          <a:solidFill>
            <a:srgbClr val="EDE9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848" y="235256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2128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 DE INFERENCIA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28800" y="2468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vLLM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301752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LLMs y embeddings con alto throughput. Expone una API compatible con OpenAI. Una imagen, dos roles.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7648" y="1828800"/>
            <a:ext cx="539496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E4DBFA"/>
            </a:solidFill>
            <a:prstDash val="solid"/>
          </a:ln>
          <a:effectLst>
            <a:outerShdw sx="100000" sy="100000" kx="0" ky="0" algn="bl" rotWithShape="0" blurRad="101600" dist="38100" dir="5400000">
              <a:srgbClr val="9C8BC4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93408" y="2194560"/>
            <a:ext cx="658368" cy="658368"/>
          </a:xfrm>
          <a:prstGeom prst="roundRect">
            <a:avLst>
              <a:gd name="adj" fmla="val 9722"/>
            </a:avLst>
          </a:prstGeom>
          <a:solidFill>
            <a:srgbClr val="EDE9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416" y="235256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16368" y="22128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SPEECH-TO-TEXT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516368" y="2468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speaches + faster-whisper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693408" y="301752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Envuelve faster-whisper y expone /v1/audio/transcriptions. Transcribe audio en tu propia GPU.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4078224"/>
            <a:ext cx="539496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E4DBFA"/>
            </a:solidFill>
            <a:prstDash val="solid"/>
          </a:ln>
          <a:effectLst>
            <a:outerShdw sx="100000" sy="100000" kx="0" ky="0" algn="bl" rotWithShape="0" blurRad="101600" dist="38100" dir="5400000">
              <a:srgbClr val="9C8BC4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05840" y="4443984"/>
            <a:ext cx="658368" cy="658368"/>
          </a:xfrm>
          <a:prstGeom prst="roundRect">
            <a:avLst>
              <a:gd name="adj" fmla="val 9722"/>
            </a:avLst>
          </a:prstGeom>
          <a:solidFill>
            <a:srgbClr val="EDE9F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848" y="4601992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4462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828800" y="471830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LiteLLM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005840" y="526694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único punto de entrada público. Recibe peticiones OpenAI y las rutea al motor correcto según el nombre del modelo.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327648" y="4078224"/>
            <a:ext cx="539496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E4DBFA"/>
            </a:solidFill>
            <a:prstDash val="solid"/>
          </a:ln>
          <a:effectLst>
            <a:outerShdw sx="100000" sy="100000" kx="0" ky="0" algn="bl" rotWithShape="0" blurRad="101600" dist="38100" dir="5400000">
              <a:srgbClr val="9C8BC4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93408" y="4443984"/>
            <a:ext cx="658368" cy="658368"/>
          </a:xfrm>
          <a:prstGeom prst="roundRect">
            <a:avLst>
              <a:gd name="adj" fmla="val 9722"/>
            </a:avLst>
          </a:prstGeom>
          <a:solidFill>
            <a:srgbClr val="EDE9F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1416" y="4601992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16368" y="4462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ORQUESTADOR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516368" y="471830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Compose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6693408" y="526694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 los 4 contenedores en una red común, gestiona arranque y healthchecks. Todo con un comando.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propia OpenAI API privada · dev-10x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ARQUITECTURA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 en un servidor, una sola URL pública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901288" y="1600200"/>
            <a:ext cx="4389120" cy="566928"/>
          </a:xfrm>
          <a:prstGeom prst="roundRect">
            <a:avLst>
              <a:gd name="adj" fmla="val 16129"/>
            </a:avLst>
          </a:prstGeom>
          <a:solidFill>
            <a:srgbClr val="211B36"/>
          </a:solidFill>
          <a:ln/>
        </p:spPr>
      </p:sp>
      <p:sp>
        <p:nvSpPr>
          <p:cNvPr id="5" name="Shape 3"/>
          <p:cNvSpPr/>
          <p:nvPr/>
        </p:nvSpPr>
        <p:spPr>
          <a:xfrm>
            <a:off x="4120744" y="1700784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3530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8526" y="1788566"/>
            <a:ext cx="190195" cy="1901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59656" y="16002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· curl / OpenAI SDK / editor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9544" y="2231136"/>
            <a:ext cx="292608" cy="384048"/>
          </a:xfrm>
          <a:prstGeom prst="downArrow">
            <a:avLst/>
          </a:prstGeom>
          <a:solidFill>
            <a:srgbClr val="7C3AED"/>
          </a:solidFill>
          <a:ln/>
        </p:spPr>
      </p:sp>
      <p:sp>
        <p:nvSpPr>
          <p:cNvPr id="9" name="Text 6"/>
          <p:cNvSpPr/>
          <p:nvPr/>
        </p:nvSpPr>
        <p:spPr>
          <a:xfrm>
            <a:off x="6446520" y="224942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:4000</a:t>
            </a:r>
            <a:pPr indent="0" marL="0">
              <a:buNone/>
            </a:pPr>
            <a:r>
              <a:rPr lang="en-US" sz="125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Authorization: Bearer sk-class-demo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724912"/>
            <a:ext cx="109270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907792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DE9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41" y="3004353"/>
            <a:ext cx="209215" cy="20921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90779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Servidor Linux · 1× NVIDIA GPU · red Docker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358488" y="3474720"/>
            <a:ext cx="3474720" cy="731520"/>
          </a:xfrm>
          <a:prstGeom prst="roundRect">
            <a:avLst>
              <a:gd name="adj" fmla="val 1125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5B21B6">
                <a:alpha val="3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358488" y="34747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18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· puerto 4000 · único entrypoint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 flipH="1">
            <a:off x="2743200" y="4206240"/>
            <a:ext cx="3352648" cy="438912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1143000" y="4645152"/>
            <a:ext cx="3200400" cy="896112"/>
          </a:xfrm>
          <a:prstGeom prst="roundRect">
            <a:avLst>
              <a:gd name="adj" fmla="val 8163"/>
            </a:avLst>
          </a:prstGeom>
          <a:solidFill>
            <a:srgbClr val="F7F5FD"/>
          </a:solidFill>
          <a:ln w="12700">
            <a:solidFill>
              <a:srgbClr val="E4DBF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362456" y="4882896"/>
            <a:ext cx="438912" cy="438912"/>
          </a:xfrm>
          <a:prstGeom prst="roundRect">
            <a:avLst>
              <a:gd name="adj" fmla="val 14583"/>
            </a:avLst>
          </a:prstGeom>
          <a:solidFill>
            <a:srgbClr val="EDE9F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795" y="4988235"/>
            <a:ext cx="228234" cy="22823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92808" y="4645152"/>
            <a:ext cx="23042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1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vllm-llm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8001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/ completions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095848" y="4206240"/>
            <a:ext cx="231800" cy="438912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4727448" y="4645152"/>
            <a:ext cx="3200400" cy="896112"/>
          </a:xfrm>
          <a:prstGeom prst="roundRect">
            <a:avLst>
              <a:gd name="adj" fmla="val 8163"/>
            </a:avLst>
          </a:prstGeom>
          <a:solidFill>
            <a:srgbClr val="F7F5FD"/>
          </a:solidFill>
          <a:ln w="12700">
            <a:solidFill>
              <a:srgbClr val="E4DBF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946904" y="4882896"/>
            <a:ext cx="438912" cy="438912"/>
          </a:xfrm>
          <a:prstGeom prst="roundRect">
            <a:avLst>
              <a:gd name="adj" fmla="val 14583"/>
            </a:avLst>
          </a:prstGeom>
          <a:solidFill>
            <a:srgbClr val="EDE9F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243" y="4988235"/>
            <a:ext cx="228234" cy="22823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77256" y="4645152"/>
            <a:ext cx="23042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1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vllm-embedding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8002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· 4096-d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6095848" y="4206240"/>
            <a:ext cx="3816248" cy="438912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8311896" y="4645152"/>
            <a:ext cx="3200400" cy="896112"/>
          </a:xfrm>
          <a:prstGeom prst="roundRect">
            <a:avLst>
              <a:gd name="adj" fmla="val 8163"/>
            </a:avLst>
          </a:prstGeom>
          <a:solidFill>
            <a:srgbClr val="F7F5FD"/>
          </a:solidFill>
          <a:ln w="12700">
            <a:solidFill>
              <a:srgbClr val="E4DBF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531352" y="4882896"/>
            <a:ext cx="438912" cy="438912"/>
          </a:xfrm>
          <a:prstGeom prst="roundRect">
            <a:avLst>
              <a:gd name="adj" fmla="val 14583"/>
            </a:avLst>
          </a:prstGeom>
          <a:solidFill>
            <a:srgbClr val="EDE9FE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691" y="4988235"/>
            <a:ext cx="228234" cy="22823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061704" y="4645152"/>
            <a:ext cx="23042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1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(speaches)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8000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transcripciones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1005840" y="5513832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cargas comparten la misma GPU vía CUDA</a:t>
            </a:r>
            <a:pPr algn="ctr" indent="0" marL="0">
              <a:buNone/>
            </a:pPr>
            <a:r>
              <a:rPr lang="en-US" sz="120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--gpu-memory-utilization: LLM 0.55 · embed 0.20 · whisper el resto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5967832" y="5971032"/>
            <a:ext cx="256032" cy="274320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33" name="Text 26"/>
          <p:cNvSpPr/>
          <p:nvPr/>
        </p:nvSpPr>
        <p:spPr>
          <a:xfrm>
            <a:off x="914400" y="629107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descargados de Hugging Face en el primer arranque  ·  Qwen3-8B · Qwen3-Embedding-8B · faster-whisper-large-v3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propia OpenAI API privada · dev-10x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PRERREQUISITOS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necesitas en el servidor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DBFA"/>
            </a:solidFill>
            <a:prstDash val="solid"/>
          </a:ln>
          <a:effectLst>
            <a:outerShdw sx="100000" sy="100000" kx="0" ky="0" algn="bl" rotWithShape="0" blurRad="101600" dist="38100" dir="5400000">
              <a:srgbClr val="9C8BC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48840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EDE9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681" y="2293681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807208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GPU + driver NVIDIA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310896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GB de VRAM recomendados. Driver instalado y nvidia-smi funcionando.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25696" y="178308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DBFA"/>
            </a:solidFill>
            <a:prstDash val="solid"/>
          </a:ln>
          <a:effectLst>
            <a:outerShdw sx="100000" sy="100000" kx="0" ky="0" algn="bl" rotWithShape="0" blurRad="101600" dist="38100" dir="5400000">
              <a:srgbClr val="9C8BC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148840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EDE9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297" y="2293681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2807208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+ Compose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91456" y="310896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 reciente con el plugin de Compose v2.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11312" y="178308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DBFA"/>
            </a:solidFill>
            <a:prstDash val="solid"/>
          </a:ln>
          <a:effectLst>
            <a:outerShdw sx="100000" sy="100000" kx="0" ky="0" algn="bl" rotWithShape="0" blurRad="101600" dist="38100" dir="5400000">
              <a:srgbClr val="9C8BC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77072" y="2148840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EDE9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913" y="2293681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77072" y="2807208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NVIDIA Container Toolkit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77072" y="310896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los contenedores vean la GPU del host.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solo bloque copy-paste (Ubuntu 24.04):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40080" y="4023360"/>
            <a:ext cx="10927080" cy="2286000"/>
          </a:xfrm>
          <a:prstGeom prst="roundRect">
            <a:avLst>
              <a:gd name="adj" fmla="val 2400"/>
            </a:avLst>
          </a:prstGeom>
          <a:solidFill>
            <a:srgbClr val="1A1430"/>
          </a:solidFill>
          <a:ln w="12700">
            <a:solidFill>
              <a:srgbClr val="2E2552"/>
            </a:solidFill>
            <a:prstDash val="solid"/>
          </a:ln>
          <a:effectLst>
            <a:outerShdw sx="100000" sy="100000" kx="0" ky="0" algn="bl" rotWithShape="0" blurRad="101600" dist="38100" dir="5400000">
              <a:srgbClr val="1A143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4672" y="416966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17"/>
          <p:cNvSpPr/>
          <p:nvPr/>
        </p:nvSpPr>
        <p:spPr>
          <a:xfrm>
            <a:off x="1005840" y="416966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18"/>
          <p:cNvSpPr/>
          <p:nvPr/>
        </p:nvSpPr>
        <p:spPr>
          <a:xfrm>
            <a:off x="1207008" y="416966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" y="4407408"/>
            <a:ext cx="10561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E7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NVIDIA Container Toolkit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https://nvidia.github.io/libnvidia-container/gpgkey \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sudo gpg --dearmor -o /usr/share/keyrings/nvidia-ctk.gpg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update &amp;&amp; sudo apt-get install -y nvidia-container-toolkit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E7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Conectar el runtime a Docker y reiniciar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nvidia-ctk runtime configure --runtime=docker &amp;&amp; sudo systemctl restart docker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E7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Comprobar que el contenedor ve la GPU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--rm --gpus all nvidia/cuda:12.4.0-base-ubuntu24.04 nvidia-smi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propia OpenAI API privada · dev-10x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EL COMPOSE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servicio, un motor, un puerto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 leerlo entero. Fíjate en el patrón: cada servicio = una imagen + un modelo de Hugging Face + un puerto.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27080" cy="457200"/>
          </a:xfrm>
          <a:prstGeom prst="roundRect">
            <a:avLst>
              <a:gd name="adj" fmla="val 10000"/>
            </a:avLst>
          </a:prstGeom>
          <a:solidFill>
            <a:srgbClr val="211B36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40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4B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SERVICIO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36392" y="22402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4B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14032" y="2240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4B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(HF)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360152" y="22402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4B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PUERTO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228832" y="2240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4B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GPU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27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4D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69748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litellm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36392" y="2697480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ghcr.io/berriai/litellm:main-stable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14032" y="2697480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1B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(gateway / router)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87000" y="2697480"/>
            <a:ext cx="777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:4000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064240" y="2697480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1B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483864"/>
            <a:ext cx="10927080" cy="786384"/>
          </a:xfrm>
          <a:prstGeom prst="rect">
            <a:avLst/>
          </a:prstGeom>
          <a:solidFill>
            <a:srgbClr val="EDE9FE"/>
          </a:solidFill>
          <a:ln w="9525">
            <a:solidFill>
              <a:srgbClr val="E4D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48386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vllm-llm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36392" y="3483864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vllm/vllm-openai:latest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14032" y="3483864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1B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Qwen/Qwen3-8B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287000" y="3483864"/>
            <a:ext cx="777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064240" y="3483864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1B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270248"/>
            <a:ext cx="10927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4D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427024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vllm-embedding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36392" y="4270248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vllm/vllm-openai:latest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14032" y="4270248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1B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Qwen/Qwen3-Embedding-8B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287000" y="4270248"/>
            <a:ext cx="777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064240" y="4270248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1B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056632"/>
            <a:ext cx="10927080" cy="786384"/>
          </a:xfrm>
          <a:prstGeom prst="rect">
            <a:avLst/>
          </a:prstGeom>
          <a:solidFill>
            <a:srgbClr val="EDE9FE"/>
          </a:solidFill>
          <a:ln w="9525">
            <a:solidFill>
              <a:srgbClr val="E4D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05663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whisper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136392" y="5056632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ghcr.io/speaches-ai/speaches:latest-cuda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14032" y="5056632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1B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Systran/faster-whisper-large-v3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287000" y="5056632"/>
            <a:ext cx="777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064240" y="5056632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1B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6007608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cargas de vLLM usan la MISMA imagen </a:t>
            </a:r>
            <a:pPr indent="0" marL="0">
              <a:buNone/>
            </a:pPr>
            <a:r>
              <a:rPr lang="en-US" sz="125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vllm/vllm-openai</a:t>
            </a:r>
            <a:pPr indent="0" marL="0">
              <a:buNone/>
            </a:pPr>
            <a:r>
              <a:rPr lang="en-US" sz="125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cambia el modelo y el modo (</a:t>
            </a:r>
            <a:pPr indent="0" marL="0">
              <a:buNone/>
            </a:pPr>
            <a:r>
              <a:rPr lang="en-US" sz="125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--task embed</a:t>
            </a:r>
            <a:pPr indent="0" marL="0">
              <a:buNone/>
            </a:pPr>
            <a:r>
              <a:rPr lang="en-US" sz="125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los embeddings).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propia OpenAI API privada · dev-10x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ARRANQUE ORDENADO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qué vllm-llm arranca primero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cargas comparten una GPU. Si arrancan a la vez, se pelean por la VRAM y alguna no cabe. La solución: arranque secuencial con healthchecks.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7315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BFA"/>
            </a:solidFill>
            <a:prstDash val="solid"/>
          </a:ln>
          <a:effectLst>
            <a:outerShdw sx="100000" sy="100000" kx="0" ky="0" algn="bl" rotWithShape="0" blurRad="101600" dist="38100" dir="5400000">
              <a:srgbClr val="9C8BC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619756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6197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37360" y="24963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vllm-llm reserva su VRAM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284378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 primero y toma el 55% de la GPU (la porción más grande). Hasta que su /health no responde OK, nadie más arranca.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216152" y="3474720"/>
            <a:ext cx="0" cy="164592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639312"/>
            <a:ext cx="7315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BFA"/>
            </a:solidFill>
            <a:prstDash val="solid"/>
          </a:ln>
          <a:effectLst>
            <a:outerShdw sx="100000" sy="100000" kx="0" ky="0" algn="bl" rotWithShape="0" blurRad="101600" dist="38100" dir="5400000">
              <a:srgbClr val="9C8BC4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32688" y="3927348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39273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8039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vllm-embedding entra después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37360" y="415137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depends_on: vllm-llm (service_healthy). Toma su 20% sobre lo que queda libre.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216152" y="4782312"/>
            <a:ext cx="0" cy="164592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946904"/>
            <a:ext cx="7315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BFA"/>
            </a:solidFill>
            <a:prstDash val="solid"/>
          </a:ln>
          <a:effectLst>
            <a:outerShdw sx="100000" sy="100000" kx="0" ky="0" algn="bl" rotWithShape="0" blurRad="101600" dist="38100" dir="5400000">
              <a:srgbClr val="9C8BC4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2688" y="523494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52349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737360" y="511149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whisper coge el resto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737360" y="545896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en arrancar. Usa la VRAM que sobra para faster-whisper.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0" y="2331720"/>
            <a:ext cx="3337560" cy="3657600"/>
          </a:xfrm>
          <a:prstGeom prst="roundRect">
            <a:avLst>
              <a:gd name="adj" fmla="val 1644"/>
            </a:avLst>
          </a:prstGeom>
          <a:solidFill>
            <a:srgbClr val="1A1430"/>
          </a:solidFill>
          <a:ln w="12700">
            <a:solidFill>
              <a:srgbClr val="2E2552"/>
            </a:solidFill>
            <a:prstDash val="solid"/>
          </a:ln>
          <a:effectLst>
            <a:outerShdw sx="100000" sy="100000" kx="0" ky="0" algn="bl" rotWithShape="0" blurRad="101600" dist="38100" dir="5400000">
              <a:srgbClr val="1A143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94192" y="24780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4" name="Shape 22"/>
          <p:cNvSpPr/>
          <p:nvPr/>
        </p:nvSpPr>
        <p:spPr>
          <a:xfrm>
            <a:off x="8595360" y="24780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5" name="Shape 23"/>
          <p:cNvSpPr/>
          <p:nvPr/>
        </p:nvSpPr>
        <p:spPr>
          <a:xfrm>
            <a:off x="8796528" y="24780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2715768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vllm-embedding: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depends_on: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vllm-llm: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condition: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C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service_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C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healthy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healthcheck: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test: curl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localhost/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health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interval: 10s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retries: 30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propia OpenAI API privada · dev-10x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DEMO EN VIVO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Tres comandos y está sirviendo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2A2348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08760" y="20299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4505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Parametriza tu GPU y el master key en el .env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2A2348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08760" y="34930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39136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 los 4 contenedores. La 1ª vez descarga los modelos de HF.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2A2348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08760" y="49560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./test.sh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53766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test: comprueba chat, embeddings y transcripción.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1828800"/>
            <a:ext cx="5623560" cy="4069080"/>
          </a:xfrm>
          <a:prstGeom prst="roundRect">
            <a:avLst>
              <a:gd name="adj" fmla="val 1798"/>
            </a:avLst>
          </a:prstGeom>
          <a:solidFill>
            <a:srgbClr val="1A1430"/>
          </a:solidFill>
          <a:ln w="12700">
            <a:solidFill>
              <a:srgbClr val="2E25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01168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7648" y="201168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6528816" y="201168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19751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7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./test.sh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246888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chat ............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7C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embeddings ......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7C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 (4096 dims)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transcriptions ..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7C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B54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&lt; resultado real en vivo &gt;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propia OpenAI API privada · dev-10x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CÓMO LO LLAMAS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Mismo cliente de OpenAI, distinta base_url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1325880"/>
          </a:xfrm>
          <a:prstGeom prst="roundRect">
            <a:avLst>
              <a:gd name="adj" fmla="val 4138"/>
            </a:avLst>
          </a:prstGeom>
          <a:solidFill>
            <a:srgbClr val="1A1430"/>
          </a:solidFill>
          <a:ln w="12700">
            <a:solidFill>
              <a:srgbClr val="2E2552"/>
            </a:solidFill>
            <a:prstDash val="solid"/>
          </a:ln>
          <a:effectLst>
            <a:outerShdw sx="100000" sy="100000" kx="0" ky="0" algn="bl" rotWithShape="0" blurRad="101600" dist="38100" dir="5400000">
              <a:srgbClr val="1A143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9293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9293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6712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E7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Chat / completions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localhost:4000/v1/chat/completions \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"Authorization: Bearer sk-class-demo" \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'{"model":"qwen3-8b","messages":[...]}'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6766560" cy="1097280"/>
          </a:xfrm>
          <a:prstGeom prst="roundRect">
            <a:avLst>
              <a:gd name="adj" fmla="val 5000"/>
            </a:avLst>
          </a:prstGeom>
          <a:solidFill>
            <a:srgbClr val="1A1430"/>
          </a:solidFill>
          <a:ln w="12700">
            <a:solidFill>
              <a:srgbClr val="2E2552"/>
            </a:solidFill>
            <a:prstDash val="solid"/>
          </a:ln>
          <a:effectLst>
            <a:outerShdw sx="100000" sy="100000" kx="0" ky="0" algn="bl" rotWithShape="0" blurRad="101600" dist="38100" dir="5400000">
              <a:srgbClr val="1A143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33924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33924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7008" y="33924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301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E7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Embeddings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localhost:4000/v1/embeddings \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'{"model":"qwen3-embedding","input":"hola"}'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480560"/>
            <a:ext cx="6766560" cy="1325880"/>
          </a:xfrm>
          <a:prstGeom prst="roundRect">
            <a:avLst>
              <a:gd name="adj" fmla="val 4138"/>
            </a:avLst>
          </a:prstGeom>
          <a:solidFill>
            <a:srgbClr val="1A1430"/>
          </a:solidFill>
          <a:ln w="12700">
            <a:solidFill>
              <a:srgbClr val="2E2552"/>
            </a:solidFill>
            <a:prstDash val="solid"/>
          </a:ln>
          <a:effectLst>
            <a:outerShdw sx="100000" sy="100000" kx="0" ky="0" algn="bl" rotWithShape="0" blurRad="101600" dist="38100" dir="5400000">
              <a:srgbClr val="1A143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62686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" y="462686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7008" y="462686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86460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E7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Speech-to-text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localhost:4000/v1/audio/transcriptions \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-F model="whisper-1" \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-F file=@audio.mp3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80960" y="1783080"/>
            <a:ext cx="3886200" cy="40233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4DBFA"/>
            </a:solidFill>
            <a:prstDash val="solid"/>
          </a:ln>
          <a:effectLst>
            <a:outerShdw sx="100000" sy="100000" kx="0" ky="0" algn="bl" rotWithShape="0" blurRad="101600" dist="38100" dir="5400000">
              <a:srgbClr val="9C8BC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205740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DE9FE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1701" y="2178101"/>
            <a:ext cx="261518" cy="26151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641080" y="2057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SDK de OpenAI, sin cambios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001000" y="2743200"/>
            <a:ext cx="3246120" cy="2834640"/>
          </a:xfrm>
          <a:prstGeom prst="roundRect">
            <a:avLst>
              <a:gd name="adj" fmla="val 1935"/>
            </a:avLst>
          </a:prstGeom>
          <a:solidFill>
            <a:srgbClr val="1A1430"/>
          </a:solidFill>
          <a:ln w="12700">
            <a:solidFill>
              <a:srgbClr val="2E2552"/>
            </a:solidFill>
            <a:prstDash val="solid"/>
          </a:ln>
          <a:effectLst>
            <a:outerShdw sx="100000" sy="100000" kx="0" ky="0" algn="bl" rotWithShape="0" blurRad="101600" dist="38100" dir="5400000">
              <a:srgbClr val="1A143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165592" y="28895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5" name="Shape 22"/>
          <p:cNvSpPr/>
          <p:nvPr/>
        </p:nvSpPr>
        <p:spPr>
          <a:xfrm>
            <a:off x="8366760" y="28895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6" name="Shape 23"/>
          <p:cNvSpPr/>
          <p:nvPr/>
        </p:nvSpPr>
        <p:spPr>
          <a:xfrm>
            <a:off x="8567928" y="28895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7" name="Text 24"/>
          <p:cNvSpPr/>
          <p:nvPr/>
        </p:nvSpPr>
        <p:spPr>
          <a:xfrm>
            <a:off x="8183880" y="3127248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OpenAI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OpenAI(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base_url=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C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"http://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C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localhost: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C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4000/v1",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C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api_key=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C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"sk-class-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C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demo")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propia OpenAI API privada · dev-10x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ESCALAR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Presets por VRAM: elige según tu tarjeta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70048" cy="384048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E4DBFA"/>
            </a:solidFill>
            <a:prstDash val="solid"/>
          </a:ln>
          <a:effectLst>
            <a:outerShdw sx="100000" sy="100000" kx="0" ky="0" algn="bl" rotWithShape="0" blurRad="101600" dist="38100" dir="5400000">
              <a:srgbClr val="9C8BC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FBF0D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8C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16 GB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BF0D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40156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32918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Justo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3931920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pequeños y cuantizados (4-bit). Quizá renuncies a una de las 3 capacidades o uses whisper-base.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84448" y="1874520"/>
            <a:ext cx="2670048" cy="384048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E4DBFA"/>
            </a:solidFill>
            <a:prstDash val="solid"/>
          </a:ln>
          <a:effectLst>
            <a:outerShdw sx="100000" sy="100000" kx="0" ky="0" algn="bl" rotWithShape="0" blurRad="101600" dist="38100" dir="5400000">
              <a:srgbClr val="9C8BC4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858768" y="219456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EDE9FE"/>
          </a:solidFill>
          <a:ln/>
        </p:spPr>
      </p:sp>
      <p:sp>
        <p:nvSpPr>
          <p:cNvPr id="13" name="Text 10"/>
          <p:cNvSpPr/>
          <p:nvPr/>
        </p:nvSpPr>
        <p:spPr>
          <a:xfrm>
            <a:off x="3858768" y="219456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 GB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858768" y="32918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DE9F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496" y="3401568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25696" y="32918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Recomendado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858768" y="3931920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preset por defecto del repo. Qwen3-8B + Embedding-8B + whisper-large-v3 caben con holgura.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528816" y="1874520"/>
            <a:ext cx="2670048" cy="384048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E4DBFA"/>
            </a:solidFill>
            <a:prstDash val="solid"/>
          </a:ln>
          <a:effectLst>
            <a:outerShdw sx="100000" sy="100000" kx="0" ky="0" algn="bl" rotWithShape="0" blurRad="101600" dist="38100" dir="5400000">
              <a:srgbClr val="9C8BC4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803136" y="219456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E6E0F7"/>
          </a:solidFill>
          <a:ln/>
        </p:spPr>
      </p:sp>
      <p:sp>
        <p:nvSpPr>
          <p:cNvPr id="20" name="Text 16"/>
          <p:cNvSpPr/>
          <p:nvPr/>
        </p:nvSpPr>
        <p:spPr>
          <a:xfrm>
            <a:off x="6803136" y="219456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 GB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6803136" y="32918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6E0F7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4" y="3401568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370064" y="32918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Cómodo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803136" y="3931920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más grandes o más contexto. Subes --gpu-memory-utilization y la KV cache.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9473184" y="1874520"/>
            <a:ext cx="2670048" cy="384048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E4DBFA"/>
            </a:solidFill>
            <a:prstDash val="solid"/>
          </a:ln>
          <a:effectLst>
            <a:outerShdw sx="100000" sy="100000" kx="0" ky="0" algn="bl" rotWithShape="0" blurRad="101600" dist="38100" dir="5400000">
              <a:srgbClr val="9C8BC4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747504" y="2194560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E2F5EE"/>
          </a:solidFill>
          <a:ln/>
        </p:spPr>
      </p:sp>
      <p:sp>
        <p:nvSpPr>
          <p:cNvPr id="27" name="Text 22"/>
          <p:cNvSpPr/>
          <p:nvPr/>
        </p:nvSpPr>
        <p:spPr>
          <a:xfrm>
            <a:off x="9747504" y="219456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3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 GB+</a:t>
            </a:r>
            <a:endParaRPr lang="en-US" sz="2400" dirty="0"/>
          </a:p>
        </p:txBody>
      </p:sp>
      <p:sp>
        <p:nvSpPr>
          <p:cNvPr id="28" name="Shape 23"/>
          <p:cNvSpPr/>
          <p:nvPr/>
        </p:nvSpPr>
        <p:spPr>
          <a:xfrm>
            <a:off x="9747504" y="32918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2F5EE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7232" y="3401568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314432" y="32918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sobra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9747504" y="3931920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70B cuantizados, batch grande, varios modelos a la vez. Producción real.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propia OpenAI API privada · dev-10x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43616" y="585216"/>
            <a:ext cx="731520" cy="320040"/>
          </a:xfrm>
          <a:prstGeom prst="line">
            <a:avLst/>
          </a:prstGeom>
          <a:noFill/>
          <a:ln w="12700">
            <a:solidFill>
              <a:srgbClr val="4A3D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75136" y="905256"/>
            <a:ext cx="-365760" cy="594360"/>
          </a:xfrm>
          <a:prstGeom prst="line">
            <a:avLst/>
          </a:prstGeom>
          <a:noFill/>
          <a:ln w="12700">
            <a:solidFill>
              <a:srgbClr val="4A3D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43616" y="585216"/>
            <a:ext cx="-274320" cy="640080"/>
          </a:xfrm>
          <a:prstGeom prst="line">
            <a:avLst/>
          </a:prstGeom>
          <a:noFill/>
          <a:ln w="12700">
            <a:solidFill>
              <a:srgbClr val="4A3D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75136" y="905256"/>
            <a:ext cx="182880" cy="1143000"/>
          </a:xfrm>
          <a:prstGeom prst="line">
            <a:avLst/>
          </a:prstGeom>
          <a:noFill/>
          <a:ln w="12700">
            <a:solidFill>
              <a:srgbClr val="4A3D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548640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0" y="868680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0" y="1463040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9" name="Shape 7"/>
          <p:cNvSpPr/>
          <p:nvPr/>
        </p:nvSpPr>
        <p:spPr>
          <a:xfrm>
            <a:off x="10332720" y="1188720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2011680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DEV-10X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1691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Recursos</a:t>
            </a:r>
            <a:endParaRPr lang="en-US" sz="46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41D3D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" y="3241548"/>
            <a:ext cx="512064" cy="512064"/>
          </a:xfrm>
          <a:prstGeom prst="roundRect">
            <a:avLst>
              <a:gd name="adj" fmla="val 12500"/>
            </a:avLst>
          </a:prstGeom>
          <a:solidFill>
            <a:srgbClr val="2E2552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583" y="3364443"/>
            <a:ext cx="266273" cy="26627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91640" y="30632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 de la clase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94960" y="306324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github.com/barckcode/dev-10x-ai-live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" y="4133088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41D3D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2688" y="4311396"/>
            <a:ext cx="512064" cy="512064"/>
          </a:xfrm>
          <a:prstGeom prst="roundRect">
            <a:avLst>
              <a:gd name="adj" fmla="val 12500"/>
            </a:avLst>
          </a:prstGeom>
          <a:solidFill>
            <a:srgbClr val="2E2552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583" y="4434291"/>
            <a:ext cx="266273" cy="26627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691640" y="413308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Docs de vLLM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394960" y="4133088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docs.vllm.ai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640080" y="5202936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41D3D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32688" y="5381244"/>
            <a:ext cx="512064" cy="512064"/>
          </a:xfrm>
          <a:prstGeom prst="roundRect">
            <a:avLst>
              <a:gd name="adj" fmla="val 12500"/>
            </a:avLst>
          </a:prstGeom>
          <a:solidFill>
            <a:srgbClr val="2E2552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583" y="5504139"/>
            <a:ext cx="266273" cy="266273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691640" y="5202936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Docs de LiteLLM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5394960" y="5202936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docs.litellm.ai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propia OpenAI API privada · dev-10x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 propia OpenAI API privada</dc:title>
  <dc:subject>PptxGenJS Presentation</dc:subject>
  <dc:creator>Helmcode</dc:creator>
  <cp:lastModifiedBy>Helmcode</cp:lastModifiedBy>
  <cp:revision>1</cp:revision>
  <dcterms:created xsi:type="dcterms:W3CDTF">2026-06-09T16:03:05Z</dcterms:created>
  <dcterms:modified xsi:type="dcterms:W3CDTF">2026-06-09T16:03:05Z</dcterms:modified>
</cp:coreProperties>
</file>